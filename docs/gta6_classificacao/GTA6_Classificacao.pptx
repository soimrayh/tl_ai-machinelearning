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Times New Roman"/>
              </a:rPr>
              <a:t>Classificação do hype de GTA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DBDBD"/>
                </a:solidFill>
                <a:latin typeface="Times New Roman"/>
              </a:rPr>
              <a:t>Projeto 2 — Regressão Logística (GD) × Árvore de Decisão própria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Matheus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Inteligência Artificial · Ciência da Computação · IFG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O problema em três partes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Definição de aprendizado de Mitchell: tarefa, experiência 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2514600" cy="2651760"/>
          </a:xfrm>
          <a:prstGeom prst="rect">
            <a:avLst/>
          </a:prstGeom>
          <a:noFill/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4B5F6"/>
                </a:solidFill>
                <a:latin typeface="Times New Roman"/>
              </a:rPr>
              <a:t>Tarefa 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Prever a faixa de hype de um fã de GTA VI (5 classes) a partir das respostas de um questionário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08760"/>
            <a:ext cx="2514600" cy="2651760"/>
          </a:xfrm>
          <a:prstGeom prst="rect">
            <a:avLst/>
          </a:prstGeom>
          <a:noFill/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B74D"/>
                </a:solidFill>
                <a:latin typeface="Times New Roman"/>
              </a:rPr>
              <a:t>Experiência (E)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3.600 respostas rotuladas (60% da base): 16 atributos estruturados + TF-IDF da "feature mais esperada"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2514600" cy="265176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Desempenho (P)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Precision, recall, F1 micro e F1 macro em 1.200 respostas de teste nunca vistas no treino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Mitchell, T. Machine Learning (1997): um programa aprende com a experiência E na tarefa T se o desempenho P melhora com 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Tarefa: 6.000 fãs e notas de hype de 1 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Base gta6_fan_expectations_2026.csv · 20 colunas por respondente</a:t>
            </a:r>
          </a:p>
        </p:txBody>
      </p:sp>
      <p:pic>
        <p:nvPicPr>
          <p:cNvPr id="4" name="Picture 3" descr="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1934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371600"/>
            <a:ext cx="29718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Respondentes: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13 a 59 anos (mediana 26), 6 regiões, 5 plataformas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Problema: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nota 1 tem 2 pessoas e nota 2 tem 19; razão maior/menor classe = 662×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Solução: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agrupar 1–6 em "Baixo" e manter 7, 8, 9 e 10; razão cai para 1,4×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Texto: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só "feature mais esperada", com 10 frases possíveis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Faixas definidas pela distribuição do alvo, antes de qualquer treino: Baixo (1–6), Alto (7), Muito alto (8), Altíssimo (9), Máximo (10).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Experiência: cada resposta vira 106 atributos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Pipeline sem vazamento entre treino, validação 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Divisão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60 / 20 / 20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3.600 · 1.200 · 1.200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estratificada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"feature mais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esperada"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57 termos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6 numéricos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padronizados +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10 categóricos one-hot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554480"/>
            <a:ext cx="1783080" cy="1600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Modelos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LR-GD (4 penalidades)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Árvore de Decisão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Vocabulário, IDF, medianas, médias e categorias ajustados só no subconjunto de treino de cada modelo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Removidos de X: respondent_id (identificador), a nota original e overall_sentiment, que é função exata da nota (1–4 Neutral, 5–7 Positive, 8–10 Very Positive): vazamento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Dois modelos com vieses opostos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Regressão logística soma evidências; a árvore decide por cortes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B5F6"/>
                </a:solidFill>
                <a:latin typeface="Times New Roman"/>
              </a:rPr>
              <a:t>LR com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886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SGDClassifier, perda logística, um-contra-resto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4 variantes: sem penalidade, Ridge (L2), Lasso (L1), Elastic Net (50/50)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160 épocas, taxa inicial 0,01 com decaimento, média dos pesos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alpha escolhido na validação entre 1e-5 e 1e-1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371600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B74D"/>
                </a:solidFill>
                <a:latin typeface="Times New Roman"/>
              </a:rPr>
              <a:t>Árvore de Decisão própria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886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CART com Gini, fit e predict implementados do zero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Testa todos os cortes de todos os atributos com contagens cumulativas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Parada: profundidade, nó puro, mín. 8 amostras por folha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Profundidade escolhida pela validação (1 a 12)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Regularização não ajuda: o modelo já é simples demais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Busca de alpha: F1 macro na validação, treino completo</a:t>
            </a:r>
          </a:p>
        </p:txBody>
      </p:sp>
      <p:pic>
        <p:nvPicPr>
          <p:cNvPr id="4" name="Picture 3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417320"/>
            <a:ext cx="29718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Escolhidos: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Ridge e Elastic Net 1e-4, Lasso 1e-5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Até 1e-3 as três ficam em 0,35–0,36, igual à LR sem penalidade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Com 1e-1 caem para 0,26–0,29: penalidade só piora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Treino ≈ validação: o problema é viés (subajuste), não variância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LR: mais dados não melhoram a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Curvas de aprendizado 1–4 · média ± desvio de 3 sementes</a:t>
            </a:r>
          </a:p>
        </p:txBody>
      </p:sp>
      <p:pic>
        <p:nvPicPr>
          <p:cNvPr id="4" name="Picture 3" descr="curvas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1872"/>
            <a:ext cx="6239786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71600"/>
            <a:ext cx="18288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Validação parada em ≈ 0,36 de 360 a 3.600 respostas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Treino cai de 0,52 para 0,40 e encontra a validação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Curva típica de subajuste: o modelo linear não captura o padrão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Árvore: melhor na profundidade 5, depois decora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Curva 5 · F1 macro × profundidade máxima (treino completo)</a:t>
            </a:r>
          </a:p>
        </p:txBody>
      </p:sp>
      <p:pic>
        <p:nvPicPr>
          <p:cNvPr id="4" name="Picture 3" descr="curva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371600"/>
            <a:ext cx="29718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7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Prof. 1 a 4: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treino e validação sobem juntos (0,21 → 0,33); a árvore ainda aprende regras gerais</a:t>
            </a:r>
          </a:p>
          <a:p>
            <a:pPr algn="l" marL="228600" indent="-182880">
              <a:spcAft>
                <a:spcPts val="7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Prof. 5: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maior salto do gráfico; validação atinge o pico de 0,42 com 63 nós</a:t>
            </a:r>
          </a:p>
          <a:p>
            <a:pPr algn="l" marL="228600" indent="-182880">
              <a:spcAft>
                <a:spcPts val="7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Prof. 6 a 12: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treino sobe até 0,62, validação cai para ≈ 0,39; com 609 nós a árvore decora o treino</a:t>
            </a:r>
          </a:p>
          <a:p>
            <a:pPr algn="l" marL="228600" indent="-182880">
              <a:spcAft>
                <a:spcPts val="7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Escolha: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prof. 5, já acima da melhor LR (0,36)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Consistência: LR estável, árvore oscila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30%, 60% e 90% do treino · 4 métricas no teste · 3 sementes</a:t>
            </a:r>
          </a:p>
        </p:txBody>
      </p:sp>
      <p:pic>
        <p:nvPicPr>
          <p:cNvPr id="4" name="Picture 3" descr="consistencia_1_precision_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3063240" cy="1740477"/>
          </a:xfrm>
          <a:prstGeom prst="rect">
            <a:avLst/>
          </a:prstGeom>
        </p:spPr>
      </p:pic>
      <p:pic>
        <p:nvPicPr>
          <p:cNvPr id="5" name="Picture 4" descr="consistencia_2_recall_mac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261872"/>
            <a:ext cx="3063240" cy="1740477"/>
          </a:xfrm>
          <a:prstGeom prst="rect">
            <a:avLst/>
          </a:prstGeom>
        </p:spPr>
      </p:pic>
      <p:pic>
        <p:nvPicPr>
          <p:cNvPr id="6" name="Picture 5" descr="consistencia_3_f1_mic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71800"/>
            <a:ext cx="3063240" cy="1740477"/>
          </a:xfrm>
          <a:prstGeom prst="rect">
            <a:avLst/>
          </a:prstGeom>
        </p:spPr>
      </p:pic>
      <p:pic>
        <p:nvPicPr>
          <p:cNvPr id="7" name="Picture 6" descr="consistencia_4_f1_mac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71800"/>
            <a:ext cx="3063240" cy="17404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371600"/>
            <a:ext cx="20116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LR: métricas quase iguais nos 3 tamanhos; desvio ≤ 0,02</a:t>
            </a:r>
          </a:p>
          <a:p>
            <a:pPr algn="l" marL="22860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AD: oscila (desvio até 0,04 com 60%) e estabiliza com 90%</a:t>
            </a:r>
          </a:p>
          <a:p>
            <a:pPr algn="l" marL="22860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F1 micro: LR ≥ AD (0,45 × 0,43)</a:t>
            </a:r>
          </a:p>
          <a:p>
            <a:pPr algn="l" marL="22860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F1 macro: AD &gt; LR com 90% (0,40 × 0,35)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Métricas no conjunto de teste (1.200 respostas). Barras: média; linhas: desvio-padrão entre as sementes 42, 43 e 44.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Desempenho: árvore lidera o F1 macro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Métricas no teste (1.200 respostas) dos três modelos escolhidos pela validação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371600"/>
                <a:gridCol w="1325880"/>
                <a:gridCol w="128016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Recall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F1 micro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F1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LR sem regularização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0,334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0,396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0,443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0,340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LR Elastic Net (α=1e-4)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0,329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0,395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0,442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0,337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AD própria (prof. 5)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0,420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0,418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0,440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0,416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Baseline (classe mais comum)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0,048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0,200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0,241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0,078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Os três acertam ≈ 44%, contra 24% do baseline e 20% do acaso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Micro ≈ igual, macro diferente: a LR acerta as classes grandes e abandona as do meio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 árvore distribui melhor os acertos entre as 5 faixas (+8 pontos de F1 macro)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Os erros se concentram entre notas vizinhas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Matrizes de confusão no teste dos três modelos selecionados</a:t>
            </a:r>
          </a:p>
        </p:txBody>
      </p:sp>
      <p:pic>
        <p:nvPicPr>
          <p:cNvPr id="4" name="Picture 3" descr="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8412480" cy="3224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LR: quase ninguém é previsto como 7 ou 9 (colunas quase vazias). AD: diagonal mais espalhada; 9 → 8 (72) e 10 → 9 (69) lideram.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Por que a LR abandona as classes do meio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Recall por classe no teste</a:t>
            </a:r>
          </a:p>
        </p:txBody>
      </p:sp>
      <p:pic>
        <p:nvPicPr>
          <p:cNvPr id="4" name="Picture 3" descr="recall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371600"/>
            <a:ext cx="29718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Um contra o resto: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cada classe ganha um escore linear; vence o maior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Sinal ordenado: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quanto mais paga e mais vê o trailer, maior a nota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Um escore linear só cresce ou só decresce com cada atributo: os extremos (1–6 e 10) tendem a vencer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Faixas como "7" precisam de um intervalo (nem baixo nem alto), que a LR não consegue formar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A árvore cria intervalos com dois cortes (ex.: 55,5 &lt; pagaria ≤ 68,5 US$) e por isso recupera parte das classes do meio.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Árvore: 2 atributos somam 86% da importância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Primeiros níveis da árvore (prof. 5) com limites em unidades originais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25880"/>
            <a:ext cx="2560320" cy="50292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399032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Pagaria ≤ US$ 68,5?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3017520" cy="50292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13432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Viu o trailer ≤ 5 vezes?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240280"/>
            <a:ext cx="3017520" cy="50292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313432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Viu o trailer ≤ 8 vezes?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74519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BDBDBD"/>
                </a:solidFill>
                <a:latin typeface="Times New Roman"/>
              </a:rPr>
              <a:t>sim (1.454)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874519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BDBDBD"/>
                </a:solidFill>
                <a:latin typeface="Times New Roman"/>
              </a:rPr>
              <a:t>não (2.146)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sim: 346 pessoas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</a:rPr>
              <a:t>82% Baixo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não: 1.108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</a:rPr>
              <a:t>mistura (37% Baixo)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sim: 777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</a:rPr>
              <a:t>mistura (28% Muito alto)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Times New Roman"/>
              </a:rPr>
              <a:t>não: 1.369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</a:rPr>
              <a:t>46% Máximo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Importância: "quanto pagaria" 53%, "vezes que viu o trailer" 33%, pré-venda "sim" 8%; usa só 8 dos 106 atributos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Pior folha: pagaria US$ 68,5–86,5, viu o trailer &gt; 8×, pré-venda "sim", &gt; 22 anos → treino com 138 nota 9 e 132 nota 10; quase empate, 103 erros em 145 respostas de 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Contagens dos nós no treino (3.600 respostas). Importância = redução de Gini ponderada, somada por atributo.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Times New Roman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DBDBD"/>
                </a:solidFill>
                <a:latin typeface="Times New Roman"/>
              </a:rPr>
              <a:t>Matheus · Inteligência Artificial · IFG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